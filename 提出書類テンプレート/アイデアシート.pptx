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130" y="-16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00363-2DD7-4D11-9C09-70AB8F69EBE2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2F48E-6C7B-4DCA-AA8D-E0FF98D0F3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50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2F48E-6C7B-4DCA-AA8D-E0FF98D0F3A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6618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5477-2ACA-452C-8F73-D69BF815F056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29944-9B75-4A5A-BD19-960FE781FA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8536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5477-2ACA-452C-8F73-D69BF815F056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29944-9B75-4A5A-BD19-960FE781FA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7436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5477-2ACA-452C-8F73-D69BF815F056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29944-9B75-4A5A-BD19-960FE781FA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7545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5477-2ACA-452C-8F73-D69BF815F056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29944-9B75-4A5A-BD19-960FE781FA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443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5477-2ACA-452C-8F73-D69BF815F056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29944-9B75-4A5A-BD19-960FE781FA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1289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5477-2ACA-452C-8F73-D69BF815F056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29944-9B75-4A5A-BD19-960FE781FA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4536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5477-2ACA-452C-8F73-D69BF815F056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29944-9B75-4A5A-BD19-960FE781FA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997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5477-2ACA-452C-8F73-D69BF815F056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29944-9B75-4A5A-BD19-960FE781FA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940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5477-2ACA-452C-8F73-D69BF815F056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29944-9B75-4A5A-BD19-960FE781FA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0399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5477-2ACA-452C-8F73-D69BF815F056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29944-9B75-4A5A-BD19-960FE781FA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747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5477-2ACA-452C-8F73-D69BF815F056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29944-9B75-4A5A-BD19-960FE781FA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168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75477-2ACA-452C-8F73-D69BF815F056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E29944-9B75-4A5A-BD19-960FE781FA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039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kumimoji="1"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le.soumu.go.jp/giteki/SearchServlet?pageID=js0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627AA0F-5D48-D74D-DEED-7821FB6D5550}"/>
              </a:ext>
            </a:extLst>
          </p:cNvPr>
          <p:cNvSpPr/>
          <p:nvPr/>
        </p:nvSpPr>
        <p:spPr>
          <a:xfrm>
            <a:off x="-1" y="0"/>
            <a:ext cx="7559675" cy="6075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144EA2B-06A2-F87D-E84A-A6C65C5BEC2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20" y="72949"/>
            <a:ext cx="6012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1.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チーム情報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63E6E02-B133-6337-7540-9BC1BC510B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96556" y="800770"/>
            <a:ext cx="6659880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&lt;</a:t>
            </a:r>
            <a:r>
              <a:rPr kumimoji="1" lang="ja-JP" altLang="en-US" sz="16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チーム情報</a:t>
            </a:r>
            <a:r>
              <a:rPr kumimoji="1" lang="en-US" altLang="ja-JP" sz="16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&gt;</a:t>
            </a:r>
          </a:p>
          <a:p>
            <a:r>
              <a:rPr kumimoji="1" lang="ja-JP" altLang="en-US" sz="105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カ      ナ    ：</a:t>
            </a:r>
            <a:endParaRPr kumimoji="1" lang="en-US" altLang="ja-JP" sz="105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1400" u="sng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チーム名：</a:t>
            </a:r>
            <a:r>
              <a:rPr kumimoji="1" lang="en-US" altLang="ja-JP" sz="1600" u="sng" dirty="0">
                <a:latin typeface="Noto Sans JP" panose="020B0200000000000000" pitchFamily="50" charset="-128"/>
                <a:ea typeface="Noto Sans JP" panose="020B0200000000000000" pitchFamily="50" charset="-128"/>
              </a:rPr>
              <a:t>									</a:t>
            </a:r>
            <a:r>
              <a:rPr kumimoji="1" lang="en-US" altLang="ja-JP" sz="16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 ※</a:t>
            </a:r>
            <a:r>
              <a: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カナ</a:t>
            </a:r>
            <a:r>
              <a:rPr kumimoji="1" lang="en-US" altLang="ja-JP" sz="16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12</a:t>
            </a:r>
            <a:r>
              <a: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文字以下</a:t>
            </a:r>
            <a:endParaRPr kumimoji="1" lang="en-US" altLang="ja-JP" sz="16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D288B25-25E2-FC6A-36EB-313675ADCE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9896" y="1740335"/>
            <a:ext cx="743680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参加メンバー</a:t>
            </a:r>
            <a:endParaRPr kumimoji="1" lang="en-US" altLang="ja-JP" sz="16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チームリーダーは★、チームメンバーは●</a:t>
            </a:r>
            <a:endParaRPr kumimoji="1" lang="en-US" altLang="ja-JP" sz="1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ピットクルーは▲を氏名の前に付けること</a:t>
            </a:r>
            <a:endParaRPr kumimoji="1" lang="en-US" altLang="ja-JP" sz="1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一回目提出はチームリーダーのみで大丈夫です。</a:t>
            </a:r>
            <a:endParaRPr kumimoji="1" lang="en-US" altLang="ja-JP" sz="1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FA9A3B44-1839-835B-24DB-7AA509531ECF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251894325"/>
              </p:ext>
            </p:extLst>
          </p:nvPr>
        </p:nvGraphicFramePr>
        <p:xfrm>
          <a:off x="570019" y="2725221"/>
          <a:ext cx="3209819" cy="2118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602">
                  <a:extLst>
                    <a:ext uri="{9D8B030D-6E8A-4147-A177-3AD203B41FA5}">
                      <a16:colId xmlns:a16="http://schemas.microsoft.com/office/drawing/2014/main" val="2033354191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1582846006"/>
                    </a:ext>
                  </a:extLst>
                </a:gridCol>
                <a:gridCol w="1067117">
                  <a:extLst>
                    <a:ext uri="{9D8B030D-6E8A-4147-A177-3AD203B41FA5}">
                      <a16:colId xmlns:a16="http://schemas.microsoft.com/office/drawing/2014/main" val="2965624138"/>
                    </a:ext>
                  </a:extLst>
                </a:gridCol>
              </a:tblGrid>
              <a:tr h="28118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学科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氏名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役割</a:t>
                      </a:r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班</a:t>
                      </a:r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6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68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051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9513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74546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989638"/>
                  </a:ext>
                </a:extLst>
              </a:tr>
            </a:tbl>
          </a:graphicData>
        </a:graphic>
      </p:graphicFrame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ADCAF159-55BE-551A-6C1F-8740E69BD212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801271391"/>
              </p:ext>
            </p:extLst>
          </p:nvPr>
        </p:nvGraphicFramePr>
        <p:xfrm>
          <a:off x="3779837" y="2725220"/>
          <a:ext cx="3209819" cy="2118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602">
                  <a:extLst>
                    <a:ext uri="{9D8B030D-6E8A-4147-A177-3AD203B41FA5}">
                      <a16:colId xmlns:a16="http://schemas.microsoft.com/office/drawing/2014/main" val="2033354191"/>
                    </a:ext>
                  </a:extLst>
                </a:gridCol>
                <a:gridCol w="1606022">
                  <a:extLst>
                    <a:ext uri="{9D8B030D-6E8A-4147-A177-3AD203B41FA5}">
                      <a16:colId xmlns:a16="http://schemas.microsoft.com/office/drawing/2014/main" val="1582846006"/>
                    </a:ext>
                  </a:extLst>
                </a:gridCol>
                <a:gridCol w="1023195">
                  <a:extLst>
                    <a:ext uri="{9D8B030D-6E8A-4147-A177-3AD203B41FA5}">
                      <a16:colId xmlns:a16="http://schemas.microsoft.com/office/drawing/2014/main" val="2965624138"/>
                    </a:ext>
                  </a:extLst>
                </a:gridCol>
              </a:tblGrid>
              <a:tr h="28118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学科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氏名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役割</a:t>
                      </a:r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班</a:t>
                      </a:r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6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68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051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9513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74546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989638"/>
                  </a:ext>
                </a:extLst>
              </a:tr>
            </a:tbl>
          </a:graphicData>
        </a:graphic>
      </p:graphicFrame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17CA726-0A3A-3923-C1D8-106C6F1C1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0015" y="5062654"/>
            <a:ext cx="6419639" cy="24804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745DB14-378E-1CB8-D733-12FCDF32D664}"/>
              </a:ext>
            </a:extLst>
          </p:cNvPr>
          <p:cNvSpPr txBox="1"/>
          <p:nvPr/>
        </p:nvSpPr>
        <p:spPr>
          <a:xfrm>
            <a:off x="570017" y="5062654"/>
            <a:ext cx="7436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チームの目標</a:t>
            </a:r>
            <a:endParaRPr kumimoji="1" lang="en-US" altLang="ja-JP" sz="1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089EFBB7-FEA9-6784-E980-4BBC929A13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0015" y="7638898"/>
            <a:ext cx="6419639" cy="27395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1039999-C135-3154-7663-A34AAB39B5DD}"/>
              </a:ext>
            </a:extLst>
          </p:cNvPr>
          <p:cNvSpPr txBox="1"/>
          <p:nvPr/>
        </p:nvSpPr>
        <p:spPr>
          <a:xfrm>
            <a:off x="570015" y="7638899"/>
            <a:ext cx="7436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コンセプト、アイデア</a:t>
            </a:r>
            <a:endParaRPr kumimoji="1" lang="en-US" altLang="ja-JP" sz="1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1444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80041-9B11-A842-D5DD-C0D16CF8C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D5196C4-EE65-E775-6746-FCB8902F44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7559675" cy="6075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D7579E-4E16-03F9-3F6B-2777D29B77F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20" y="72949"/>
            <a:ext cx="6012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2.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戦略の流れ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B302349-0858-FCAA-213A-CF90988DE1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5260" y="794516"/>
            <a:ext cx="7063740" cy="384250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1190F5-B8E6-AB0D-954C-A6B58CD122D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5260" y="794516"/>
            <a:ext cx="665988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ja-JP" altLang="ja-JP" sz="1050" b="1" dirty="0"/>
              <a:t>◆どのように試合を組み立て、どんな戦略で課題を達成するか、試合開始後の流れや作戦を記入すること。</a:t>
            </a:r>
            <a:r>
              <a:rPr lang="en-US" altLang="ja-JP" sz="1050" b="1" dirty="0"/>
              <a:t>​</a:t>
            </a:r>
          </a:p>
          <a:p>
            <a:pPr fontAlgn="base"/>
            <a:r>
              <a:rPr lang="ja-JP" altLang="ja-JP" sz="1050" b="1" dirty="0"/>
              <a:t>◆必要に応じてフィールド図を使用し説明すること。</a:t>
            </a:r>
            <a:endParaRPr lang="en-US" altLang="ja-JP" sz="1050" b="1" dirty="0"/>
          </a:p>
          <a:p>
            <a:endParaRPr kumimoji="1" lang="en-US" altLang="ja-JP" sz="1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544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6FD3-9678-867C-C455-8092892FE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C73DB95-DA9F-A9EB-9834-2FB0EF14DB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7559675" cy="6075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74006D-FF6B-B3D0-1BF2-88A7AC2217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20" y="72949"/>
            <a:ext cx="6012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3.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ロボットスペック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BBE1A4E-DD74-CF16-221A-79B3907EA4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9896" y="816010"/>
            <a:ext cx="6659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①構成</a:t>
            </a:r>
            <a:endParaRPr kumimoji="1" lang="en-US" altLang="ja-JP" sz="16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D629F072-A178-D254-FF5E-161E3E3664FC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331767451"/>
              </p:ext>
            </p:extLst>
          </p:nvPr>
        </p:nvGraphicFramePr>
        <p:xfrm>
          <a:off x="577638" y="1248710"/>
          <a:ext cx="6227025" cy="256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582">
                  <a:extLst>
                    <a:ext uri="{9D8B030D-6E8A-4147-A177-3AD203B41FA5}">
                      <a16:colId xmlns:a16="http://schemas.microsoft.com/office/drawing/2014/main" val="3416208391"/>
                    </a:ext>
                  </a:extLst>
                </a:gridCol>
                <a:gridCol w="1554481">
                  <a:extLst>
                    <a:ext uri="{9D8B030D-6E8A-4147-A177-3AD203B41FA5}">
                      <a16:colId xmlns:a16="http://schemas.microsoft.com/office/drawing/2014/main" val="2333561334"/>
                    </a:ext>
                  </a:extLst>
                </a:gridCol>
                <a:gridCol w="1554481">
                  <a:extLst>
                    <a:ext uri="{9D8B030D-6E8A-4147-A177-3AD203B41FA5}">
                      <a16:colId xmlns:a16="http://schemas.microsoft.com/office/drawing/2014/main" val="2876704215"/>
                    </a:ext>
                  </a:extLst>
                </a:gridCol>
                <a:gridCol w="1554481">
                  <a:extLst>
                    <a:ext uri="{9D8B030D-6E8A-4147-A177-3AD203B41FA5}">
                      <a16:colId xmlns:a16="http://schemas.microsoft.com/office/drawing/2014/main" val="4266313063"/>
                    </a:ext>
                  </a:extLst>
                </a:gridCol>
              </a:tblGrid>
              <a:tr h="283880"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縦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横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高さ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2747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スタート時のサイズ</a:t>
                      </a:r>
                      <a:endParaRPr kumimoji="1" lang="en-US" altLang="ja-JP" sz="1200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  <a:p>
                      <a:pPr algn="ctr"/>
                      <a:r>
                        <a:rPr kumimoji="1" lang="en-US" altLang="ja-JP" sz="1200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500×500×700mm</a:t>
                      </a:r>
                      <a:endParaRPr kumimoji="1" lang="ja-JP" altLang="en-US" sz="1200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mm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mm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mm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65892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展開時の最大サイズ</a:t>
                      </a:r>
                      <a:endParaRPr kumimoji="1" lang="en-US" altLang="ja-JP" sz="1200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  <a:p>
                      <a:pPr algn="ctr"/>
                      <a:r>
                        <a:rPr kumimoji="1" lang="en-US" altLang="ja-JP" sz="1200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700×700×900mm</a:t>
                      </a:r>
                      <a:endParaRPr kumimoji="1" lang="ja-JP" altLang="en-US" sz="1200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mm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mm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mm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748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ロボットの重量</a:t>
                      </a:r>
                      <a:endParaRPr kumimoji="1" lang="en-US" altLang="ja-JP" sz="1200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  <a:p>
                      <a:pPr algn="ctr"/>
                      <a:r>
                        <a:rPr kumimoji="1" lang="en-US" altLang="ja-JP" sz="1200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15kg</a:t>
                      </a:r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以下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kg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8888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移動方法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7492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動力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852660"/>
                  </a:ext>
                </a:extLst>
              </a:tr>
            </a:tbl>
          </a:graphicData>
        </a:graphic>
      </p:graphicFrame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70228AB-B7EE-CBC6-4C90-892125C15928}"/>
              </a:ext>
            </a:extLst>
          </p:cNvPr>
          <p:cNvSpPr/>
          <p:nvPr/>
        </p:nvSpPr>
        <p:spPr>
          <a:xfrm>
            <a:off x="682782" y="3912736"/>
            <a:ext cx="6016735" cy="826904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BE0E2BC-AD67-4B68-A38C-B424C619FF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2782" y="3912736"/>
            <a:ext cx="66598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◆スタート時のサイズは、縦</a:t>
            </a:r>
            <a:r>
              <a:rPr lang="en-US" altLang="ja-JP" sz="1200" b="1" dirty="0">
                <a:solidFill>
                  <a:srgbClr val="000000"/>
                </a:solidFill>
                <a:latin typeface="BIZ UDPゴシック" panose="020B0400000000000000" pitchFamily="50" charset="-128"/>
                <a:ea typeface="Meiryo UI" panose="020B0604030504040204" pitchFamily="50" charset="-128"/>
              </a:rPr>
              <a:t>500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mm×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横</a:t>
            </a:r>
            <a:r>
              <a:rPr lang="en-US" altLang="ja-JP" sz="1200" b="1" dirty="0">
                <a:solidFill>
                  <a:srgbClr val="000000"/>
                </a:solidFill>
                <a:latin typeface="BIZ UDPゴシック" panose="020B0400000000000000" pitchFamily="50" charset="-128"/>
                <a:ea typeface="Meiryo UI" panose="020B0604030504040204" pitchFamily="50" charset="-128"/>
              </a:rPr>
              <a:t>5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00mm×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高さ</a:t>
            </a:r>
            <a:r>
              <a:rPr lang="en-US" altLang="ja-JP" sz="1200" b="1" dirty="0">
                <a:solidFill>
                  <a:srgbClr val="000000"/>
                </a:solidFill>
                <a:latin typeface="BIZ UDPゴシック" panose="020B0400000000000000" pitchFamily="50" charset="-128"/>
                <a:ea typeface="Meiryo UI" panose="020B0604030504040204" pitchFamily="50" charset="-128"/>
              </a:rPr>
              <a:t>7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00mm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以下であること。</a:t>
            </a:r>
            <a:r>
              <a:rPr lang="en-US" altLang="ja-JP" sz="12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​</a:t>
            </a:r>
            <a:endParaRPr lang="en-US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◆最大展開サイズは、縦</a:t>
            </a:r>
            <a:r>
              <a:rPr lang="en-US" altLang="ja-JP" sz="1200" b="1" dirty="0">
                <a:solidFill>
                  <a:srgbClr val="000000"/>
                </a:solidFill>
                <a:latin typeface="BIZ UDPゴシック" panose="020B0400000000000000" pitchFamily="50" charset="-128"/>
                <a:ea typeface="Meiryo UI" panose="020B0604030504040204" pitchFamily="50" charset="-128"/>
              </a:rPr>
              <a:t>7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00mm×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横</a:t>
            </a:r>
            <a:r>
              <a:rPr lang="en-US" altLang="ja-JP" sz="1200" b="1" dirty="0">
                <a:solidFill>
                  <a:srgbClr val="000000"/>
                </a:solidFill>
                <a:latin typeface="BIZ UDPゴシック" panose="020B0400000000000000" pitchFamily="50" charset="-128"/>
                <a:ea typeface="Meiryo UI" panose="020B0604030504040204" pitchFamily="50" charset="-128"/>
              </a:rPr>
              <a:t>7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00mm×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高さ</a:t>
            </a:r>
            <a:r>
              <a:rPr lang="en-US" altLang="ja-JP" sz="1200" b="1" dirty="0">
                <a:solidFill>
                  <a:srgbClr val="000000"/>
                </a:solidFill>
                <a:latin typeface="BIZ UDPゴシック" panose="020B0400000000000000" pitchFamily="50" charset="-128"/>
                <a:ea typeface="Meiryo UI" panose="020B0604030504040204" pitchFamily="50" charset="-128"/>
              </a:rPr>
              <a:t>9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00mm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以下であること。</a:t>
            </a:r>
            <a:r>
              <a:rPr lang="ja-JP" altLang="ja-JP" sz="1200" b="0" i="0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​</a:t>
            </a:r>
            <a:endParaRPr lang="ja-JP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◆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【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動力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】 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何をどれだけ使用するか記載してください。</a:t>
            </a:r>
            <a:r>
              <a:rPr lang="en-US" altLang="ja-JP" sz="12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​</a:t>
            </a:r>
            <a:endParaRPr lang="en-US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　　　　　　　例）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12V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バッテリー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×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２本、圧縮空気エアタンク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10L×1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本</a:t>
            </a:r>
            <a:endParaRPr lang="en-US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93E3C6F-7912-9D15-B12D-7E028AB14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9896" y="5007352"/>
            <a:ext cx="6659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②通信</a:t>
            </a:r>
            <a:endParaRPr kumimoji="1" lang="en-US" altLang="ja-JP" sz="16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aphicFrame>
        <p:nvGraphicFramePr>
          <p:cNvPr id="17" name="表 16">
            <a:extLst>
              <a:ext uri="{FF2B5EF4-FFF2-40B4-BE49-F238E27FC236}">
                <a16:creationId xmlns:a16="http://schemas.microsoft.com/office/drawing/2014/main" id="{298EF12D-F1DC-869B-5282-792080BF4EFC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247033479"/>
              </p:ext>
            </p:extLst>
          </p:nvPr>
        </p:nvGraphicFramePr>
        <p:xfrm>
          <a:off x="577637" y="5494020"/>
          <a:ext cx="6227025" cy="185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63">
                  <a:extLst>
                    <a:ext uri="{9D8B030D-6E8A-4147-A177-3AD203B41FA5}">
                      <a16:colId xmlns:a16="http://schemas.microsoft.com/office/drawing/2014/main" val="369441134"/>
                    </a:ext>
                  </a:extLst>
                </a:gridCol>
                <a:gridCol w="1089660">
                  <a:extLst>
                    <a:ext uri="{9D8B030D-6E8A-4147-A177-3AD203B41FA5}">
                      <a16:colId xmlns:a16="http://schemas.microsoft.com/office/drawing/2014/main" val="2809756253"/>
                    </a:ext>
                  </a:extLst>
                </a:gridCol>
                <a:gridCol w="2228851">
                  <a:extLst>
                    <a:ext uri="{9D8B030D-6E8A-4147-A177-3AD203B41FA5}">
                      <a16:colId xmlns:a16="http://schemas.microsoft.com/office/drawing/2014/main" val="2022323516"/>
                    </a:ext>
                  </a:extLst>
                </a:gridCol>
                <a:gridCol w="2228851">
                  <a:extLst>
                    <a:ext uri="{9D8B030D-6E8A-4147-A177-3AD203B41FA5}">
                      <a16:colId xmlns:a16="http://schemas.microsoft.com/office/drawing/2014/main" val="2821886806"/>
                    </a:ext>
                  </a:extLst>
                </a:gridCol>
              </a:tblGrid>
              <a:tr h="37338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項目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35811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帯域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458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送信側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機器名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7404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型式 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又は </a:t>
                      </a:r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名称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54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受信側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型式 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又は</a:t>
                      </a:r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名称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solidFill>
                          <a:schemeClr val="bg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921136"/>
                  </a:ext>
                </a:extLst>
              </a:tr>
            </a:tbl>
          </a:graphicData>
        </a:graphic>
      </p:graphicFrame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23E9225-BCDF-DC57-EF2E-C2051FF8C1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7637" y="7572710"/>
            <a:ext cx="6227025" cy="1472230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CB9BE14-4582-F120-A1F0-FCE49F47223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637" y="7629034"/>
            <a:ext cx="65321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◆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【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項目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】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例）コントローラ、遠隔非常停止、映像伝送用 など（用途に応じて列を追加すること）</a:t>
            </a:r>
            <a:r>
              <a:rPr lang="en-US" altLang="ja-JP" sz="12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​</a:t>
            </a:r>
            <a:endParaRPr lang="en-US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◆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【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帯域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】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例）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2.45GHz</a:t>
            </a:r>
            <a:r>
              <a:rPr lang="en-US" altLang="ja-JP" sz="12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​</a:t>
            </a:r>
            <a:endParaRPr lang="en-US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◆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【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機器名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】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例）○○社製無線コントローラ、自作コントローラ など</a:t>
            </a:r>
            <a:r>
              <a:rPr lang="en-US" altLang="ja-JP" sz="12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​</a:t>
            </a:r>
            <a:endParaRPr lang="en-US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◆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【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型式又は名称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】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例）</a:t>
            </a:r>
            <a:r>
              <a:rPr lang="en-US" altLang="ja-JP" sz="1200" b="1" i="0" u="none" strike="noStrike" dirty="0" err="1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Xbee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-PRO</a:t>
            </a:r>
            <a:r>
              <a:rPr lang="en-US" altLang="ja-JP" sz="12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​</a:t>
            </a:r>
            <a:endParaRPr lang="en-US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◆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【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技適番号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】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例）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005</a:t>
            </a: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ＮＹＣＡ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0378</a:t>
            </a:r>
            <a:r>
              <a:rPr lang="en-US" altLang="ja-JP" sz="12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​</a:t>
            </a:r>
            <a:endParaRPr lang="en-US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総務省技適検索：</a:t>
            </a:r>
            <a:r>
              <a:rPr lang="en-US" altLang="ja-JP" sz="12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​</a:t>
            </a:r>
            <a:endParaRPr lang="en-US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sz="1200" b="1" i="0" u="sng" strike="noStrike" dirty="0">
                <a:solidFill>
                  <a:srgbClr val="0563C1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  <a:hlinkClick r:id="rId3"/>
              </a:rPr>
              <a:t>https://www.tele.soumu.go.jp/giteki/SearchServlet?pageID=js01</a:t>
            </a:r>
            <a:r>
              <a:rPr lang="ja-JP" altLang="ja-JP" sz="1200" b="0" i="0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​</a:t>
            </a:r>
            <a:endParaRPr lang="ja-JP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 rtl="0" fontAlgn="base">
              <a:buNone/>
            </a:pPr>
            <a:r>
              <a:rPr lang="en-US" altLang="ja-JP" sz="12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​</a:t>
            </a:r>
            <a:endParaRPr lang="en-US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4502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10C06-52A0-1C98-CD48-A30645550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56E834E-9050-6C95-00D5-DD0C9DEC2E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7559675" cy="6075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7CEF2AD-477B-AA3F-63DF-0B04F193896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20" y="72949"/>
            <a:ext cx="6012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4-1.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ロボットの全体像（スタート時）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D9A161E-C0E5-C6FC-7601-2017A817DD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5260" y="794516"/>
            <a:ext cx="7063740" cy="866644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1203818-03BD-EFE5-0144-69FAB9B718A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5260" y="794516"/>
            <a:ext cx="6659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ja-JP" altLang="ja-JP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◆スタート時のロボットの全体像が分かる立体図（等角図など）を掲載すること。</a:t>
            </a:r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​</a:t>
            </a:r>
          </a:p>
          <a:p>
            <a:pPr fontAlgn="base"/>
            <a:r>
              <a:rPr lang="ja-JP" altLang="ja-JP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◆外形寸法を明記すること。</a:t>
            </a:r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​</a:t>
            </a:r>
          </a:p>
          <a:p>
            <a:pPr fontAlgn="base"/>
            <a:r>
              <a:rPr lang="ja-JP" altLang="ja-JP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◆エアタンク、バッテリー、非常停止スイッチの位置を明記すること。</a:t>
            </a:r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​</a:t>
            </a:r>
          </a:p>
          <a:p>
            <a:pPr fontAlgn="base"/>
            <a:r>
              <a:rPr lang="ja-JP" altLang="ja-JP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 立体図だけで示せない場合は、必要に応じて別角度の図や三面図などを追加すること</a:t>
            </a:r>
            <a:endParaRPr lang="en-US" altLang="ja-JP" sz="1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en-US" altLang="ja-JP" sz="1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1300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F9241-DF4E-CD0B-D180-48D25060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03BFB3F-19FB-77A8-CFFA-B7B320E089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7559675" cy="6075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97838EF-ABF5-9552-92AB-8CDE1A0228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20" y="72949"/>
            <a:ext cx="6012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4-2.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ロボットの全体像（展開時）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0EFFCBB-A8C4-DFF6-2823-9D9B4A58EB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5260" y="794516"/>
            <a:ext cx="7063740" cy="1285744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71F5C7C-59C2-C8AB-1918-C341A2B91E5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5260" y="794516"/>
            <a:ext cx="6659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ja-JP" altLang="ja-JP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◆スタート時のロボットの全体像が分かる立体図（等角図など）を掲載すること。</a:t>
            </a:r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​</a:t>
            </a:r>
          </a:p>
          <a:p>
            <a:pPr fontAlgn="base"/>
            <a:r>
              <a:rPr lang="ja-JP" altLang="ja-JP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◆外形寸法を明記すること。</a:t>
            </a:r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​</a:t>
            </a:r>
          </a:p>
          <a:p>
            <a:pPr fontAlgn="base"/>
            <a:r>
              <a:rPr lang="ja-JP" altLang="ja-JP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◆エアタンク、バッテリー、非常停止スイッチの位置を明記すること。</a:t>
            </a:r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​</a:t>
            </a:r>
          </a:p>
          <a:p>
            <a:pPr fontAlgn="base"/>
            <a:r>
              <a:rPr lang="ja-JP" altLang="ja-JP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 立体図だけで示せない場合は、必要に応じて別角度の図や三面図などを追加すること</a:t>
            </a:r>
            <a:endParaRPr lang="en-US" altLang="ja-JP" sz="1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fontAlgn="base"/>
            <a:r>
              <a:rPr lang="ja-JP" altLang="ja-JP" sz="1200" b="1" dirty="0"/>
              <a:t>◆</a:t>
            </a:r>
            <a:r>
              <a:rPr lang="ja-JP" altLang="ja-JP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以降で説明する機構をどこに搭載しているか明記すること。</a:t>
            </a:r>
            <a:endParaRPr lang="en-US" altLang="ja-JP" sz="1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fontAlgn="base"/>
            <a:r>
              <a:rPr lang="ja-JP" altLang="ja-JP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（</a:t>
            </a:r>
            <a:r>
              <a:rPr lang="ja-JP" altLang="en-US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ボールを拾う</a:t>
            </a:r>
            <a:r>
              <a:rPr lang="ja-JP" altLang="ja-JP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、</a:t>
            </a:r>
            <a:r>
              <a:rPr lang="ja-JP" altLang="en-US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投げる</a:t>
            </a:r>
            <a:r>
              <a:rPr lang="ja-JP" altLang="ja-JP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などの機構）</a:t>
            </a:r>
            <a:r>
              <a:rPr lang="ja-JP" altLang="ja-JP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​</a:t>
            </a:r>
            <a:endParaRPr lang="en-US" altLang="ja-JP" sz="1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en-US" altLang="ja-JP" sz="1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65235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55AF4-4261-1F79-248B-15A6E9CA1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29C20FE-C36B-0D03-4156-B85714B4B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7559675" cy="6075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578780-F221-75C5-BCC2-18D8EF3373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20" y="72949"/>
            <a:ext cx="6012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5-1.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ロボットの動作説明（ボールの回収）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35701FC-6019-4C9D-6E66-4E1BCE3B89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5260" y="794516"/>
            <a:ext cx="7063740" cy="478024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5C3228-A684-1DC3-658C-E64BF69131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5260" y="794516"/>
            <a:ext cx="6659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ja-JP" altLang="ja-JP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◆</a:t>
            </a:r>
            <a:r>
              <a:rPr lang="ja-JP" altLang="en-US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ロボットからボールを回収して装填する方法（機構）</a:t>
            </a:r>
            <a:endParaRPr lang="en-US" altLang="ja-JP" sz="1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fontAlgn="base"/>
            <a:r>
              <a:rPr lang="ja-JP" altLang="en-US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◆高さの異なる台からボールを回収する工夫</a:t>
            </a:r>
            <a:endParaRPr lang="en-US" altLang="ja-JP" sz="1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fontAlgn="base"/>
            <a:endParaRPr kumimoji="1" lang="en-US" altLang="ja-JP" sz="1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100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9087C-1A65-8634-DE4A-3E031DDAF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5357010-242F-587E-AF25-CB5174C13E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7559675" cy="6075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52FAD1E-F168-1540-FBCE-72EC9A6C86B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20" y="72949"/>
            <a:ext cx="6012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5-2.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ロボットの動作説明（ボールの設置）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AB26D11-2C4B-C484-1D74-7764F522B7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5260" y="794516"/>
            <a:ext cx="7063740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C60EF9D-E655-F5FF-8341-8B925B86C4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5260" y="794516"/>
            <a:ext cx="6659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ja-JP" altLang="ja-JP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◆</a:t>
            </a:r>
            <a:r>
              <a:rPr lang="ja-JP" altLang="en-US" sz="1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ボールの設置を狙う方法（機構）について、それぞれ図を使って説明すること。</a:t>
            </a:r>
            <a:endParaRPr kumimoji="1" lang="en-US" altLang="ja-JP" sz="1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2928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2171-4463-8025-40F3-2D397070F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454E6AD-CC43-182C-7E34-A75EE1F8B6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7559675" cy="6075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26A5056-E0C5-790C-457C-779DF376DDC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20" y="72949"/>
            <a:ext cx="6012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6.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スケジュール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CE6BEA1-1324-381D-462D-D5CEC90F4B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680513"/>
            <a:ext cx="7132320" cy="1642607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829759C-D1C3-992A-78E6-4ACEC3414C5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680512"/>
            <a:ext cx="74142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◆ アイデア立案から地区大会本番までのロボット製作スケジュールを記入すること。</a:t>
            </a:r>
            <a:r>
              <a:rPr lang="en-US" altLang="ja-JP" sz="12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​</a:t>
            </a:r>
            <a:endParaRPr lang="en-US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◆ テスト期間など、ロボット製作に影響のある学内行事スケジュールも反映させること。</a:t>
            </a:r>
            <a:r>
              <a:rPr lang="en-US" altLang="ja-JP" sz="12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​</a:t>
            </a:r>
            <a:endParaRPr lang="en-US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◆ 以下の日程を前提として、スケジュールを作成すること。</a:t>
            </a:r>
            <a:r>
              <a:rPr lang="en-US" altLang="ja-JP" sz="12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​</a:t>
            </a:r>
            <a:endParaRPr lang="en-US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◆ 書式は自由とするが、１ページにおさめること。</a:t>
            </a:r>
            <a:r>
              <a:rPr lang="en-US" altLang="ja-JP" sz="12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Meiryo UI" panose="020B0604030504040204" pitchFamily="50" charset="-128"/>
              </a:rPr>
              <a:t>​</a:t>
            </a:r>
          </a:p>
          <a:p>
            <a:pPr algn="l" rtl="0" fontAlgn="base">
              <a:buNone/>
            </a:pPr>
            <a:endParaRPr lang="en-US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fontAlgn="base"/>
            <a:r>
              <a:rPr lang="ja-JP" altLang="ja-JP" sz="1200" b="0" i="0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​</a:t>
            </a:r>
            <a:r>
              <a:rPr lang="en-US" altLang="ja-JP" sz="1200" b="1" dirty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</a:t>
            </a:r>
            <a:r>
              <a:rPr lang="ja-JP" altLang="en-US" sz="1200" b="1" dirty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lang="en-US" altLang="ja-JP" sz="1200" b="1" dirty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18</a:t>
            </a:r>
            <a:r>
              <a:rPr lang="ja-JP" altLang="en-US" sz="1200" b="1" dirty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日（火）</a:t>
            </a:r>
            <a:r>
              <a:rPr lang="en-US" altLang="ja-JP" sz="1200" b="1" dirty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… </a:t>
            </a:r>
            <a:r>
              <a:rPr lang="ja-JP" altLang="en-US" sz="1200" b="1" dirty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アイデアシート提出期限</a:t>
            </a:r>
            <a:endParaRPr lang="en-US" altLang="ja-JP" sz="1200" b="0" i="0" dirty="0">
              <a:solidFill>
                <a:srgbClr val="000000"/>
              </a:solidFill>
              <a:effectLst/>
              <a:latin typeface="Meiryo UI" panose="020B0604030504040204" pitchFamily="50" charset="-128"/>
              <a:ea typeface="BIZ UDPゴシック" panose="020B0400000000000000" pitchFamily="50" charset="-128"/>
            </a:endParaRPr>
          </a:p>
          <a:p>
            <a:pPr algn="l" rtl="0" fontAlgn="base">
              <a:buNone/>
            </a:pP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10</a:t>
            </a:r>
            <a:r>
              <a:rPr lang="ja-JP" altLang="en-US" sz="1200" b="1" i="0" u="none" strike="noStrike" dirty="0">
                <a:solidFill>
                  <a:srgbClr val="0000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lang="en-US" altLang="ja-JP" sz="1200" b="1" i="0" u="none" strike="noStrike" dirty="0">
                <a:solidFill>
                  <a:srgbClr val="0000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25</a:t>
            </a:r>
            <a:r>
              <a:rPr lang="ja-JP" altLang="en-US" sz="1200" b="1" dirty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lang="en-US" altLang="ja-JP" sz="1200" b="1" dirty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(</a:t>
            </a:r>
            <a:r>
              <a:rPr lang="ja-JP" altLang="en-US" sz="1200" b="1" dirty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lang="en-US" altLang="ja-JP" sz="1200" b="1" dirty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   … </a:t>
            </a:r>
            <a:r>
              <a:rPr lang="ja-JP" altLang="en-US" sz="1200" b="1" dirty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電源電位申告書</a:t>
            </a:r>
            <a:r>
              <a:rPr lang="ja-JP" altLang="en-US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、</a:t>
            </a:r>
            <a:r>
              <a:rPr lang="ja-JP" altLang="en-US" sz="1200" b="1" dirty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最終アイデアシート提出期限</a:t>
            </a:r>
            <a:endParaRPr lang="en-US" altLang="ja-JP" sz="1200" b="1" dirty="0">
              <a:solidFill>
                <a:srgbClr val="00000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l" rtl="0" fontAlgn="base">
              <a:buNone/>
            </a:pPr>
            <a:r>
              <a:rPr lang="en-US" altLang="ja-JP" sz="1200" b="1" i="0" dirty="0">
                <a:solidFill>
                  <a:srgbClr val="0000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11</a:t>
            </a:r>
            <a:r>
              <a:rPr lang="ja-JP" altLang="en-US" sz="1200" b="1" i="0" dirty="0">
                <a:solidFill>
                  <a:srgbClr val="0000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lang="en-US" altLang="ja-JP" sz="1200" b="1" i="0" dirty="0">
                <a:solidFill>
                  <a:srgbClr val="0000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7</a:t>
            </a:r>
            <a:r>
              <a:rPr lang="ja-JP" altLang="en-US" sz="1200" b="1" i="0" dirty="0">
                <a:solidFill>
                  <a:srgbClr val="0000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日（土</a:t>
            </a:r>
            <a:r>
              <a:rPr lang="en-US" altLang="ja-JP" sz="1200" b="1" i="0" dirty="0">
                <a:solidFill>
                  <a:srgbClr val="0000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r>
              <a:rPr lang="ja-JP" altLang="en-US" sz="1200" b="1" dirty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  </a:t>
            </a:r>
            <a:r>
              <a:rPr lang="en-US" altLang="ja-JP" sz="1200" b="1" dirty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… </a:t>
            </a:r>
            <a:r>
              <a:rPr lang="ja-JP" altLang="en-US" sz="1200" b="1" dirty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大</a:t>
            </a:r>
            <a:r>
              <a:rPr lang="ja-JP" altLang="en-US" sz="1200" b="1" i="0" dirty="0">
                <a:solidFill>
                  <a:srgbClr val="0000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会実施</a:t>
            </a:r>
            <a:endParaRPr lang="en-US" altLang="ja-JP" sz="1200" b="0" i="0" dirty="0">
              <a:solidFill>
                <a:srgbClr val="000000"/>
              </a:solidFill>
              <a:effectLst/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9716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AE747-D86A-51D5-277E-11FD474B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B451932-1A2A-ACCE-6C9E-1F40CF9471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7559675" cy="6075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C78F2B-C8C7-69E2-8368-BF8B8E03B8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20" y="72949"/>
            <a:ext cx="6012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7.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チェックシート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814734E-863F-7BD8-04C5-49191EB04E5C}"/>
              </a:ext>
            </a:extLst>
          </p:cNvPr>
          <p:cNvSpPr/>
          <p:nvPr/>
        </p:nvSpPr>
        <p:spPr>
          <a:xfrm>
            <a:off x="182880" y="680514"/>
            <a:ext cx="7132320" cy="71927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8BBB336-BD1C-0F34-5203-3F96F90420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680512"/>
            <a:ext cx="74142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buNone/>
            </a:pPr>
            <a:r>
              <a:rPr lang="ja-JP" altLang="ja-JP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◆</a:t>
            </a:r>
            <a:r>
              <a:rPr lang="ja-JP" altLang="en-US" sz="1200" b="1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提出前に必ず下記の項目をチームリーダー等と確認すること。</a:t>
            </a:r>
            <a:endParaRPr lang="en-US" altLang="ja-JP" sz="1200" b="1" i="0" u="none" strike="noStrike" dirty="0">
              <a:solidFill>
                <a:srgbClr val="000000"/>
              </a:solidFill>
              <a:effectLst/>
              <a:latin typeface="Meiryo UI" panose="020B0604030504040204" pitchFamily="50" charset="-128"/>
              <a:ea typeface="BIZ UDPゴシック" panose="020B0400000000000000" pitchFamily="50" charset="-128"/>
            </a:endParaRPr>
          </a:p>
          <a:p>
            <a:pPr algn="l" rtl="0" fontAlgn="base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 UI" panose="020B0604030504040204" pitchFamily="50" charset="-128"/>
                <a:ea typeface="BIZ UDPゴシック" panose="020B0400000000000000" pitchFamily="50" charset="-128"/>
              </a:rPr>
              <a:t>◆確認後、チームリーダーの名前を入力し、提出すること。</a:t>
            </a:r>
            <a:endParaRPr lang="en-US" altLang="ja-JP" sz="1200" b="1" dirty="0">
              <a:solidFill>
                <a:srgbClr val="000000"/>
              </a:solidFill>
              <a:latin typeface="Meiryo UI" panose="020B0604030504040204" pitchFamily="50" charset="-128"/>
              <a:ea typeface="BIZ UDPゴシック" panose="020B0400000000000000" pitchFamily="50" charset="-128"/>
            </a:endParaRPr>
          </a:p>
          <a:p>
            <a:pPr algn="l" rtl="0" fontAlgn="base">
              <a:buNone/>
            </a:pPr>
            <a:r>
              <a:rPr lang="ja-JP" altLang="en-US" sz="1200" b="1" i="0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BIZ UDPゴシック" panose="020B0400000000000000" pitchFamily="50" charset="-128"/>
              </a:rPr>
              <a:t>　（チェック欄と名前の記入がないものは再提出となります！）</a:t>
            </a:r>
            <a:endParaRPr lang="en-US" altLang="ja-JP" sz="1200" b="0" i="0" dirty="0">
              <a:solidFill>
                <a:srgbClr val="000000"/>
              </a:solidFill>
              <a:effectLst/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3A0FA5B-F591-7554-3430-4E9B3BDCC4A1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850090048"/>
              </p:ext>
            </p:extLst>
          </p:nvPr>
        </p:nvGraphicFramePr>
        <p:xfrm>
          <a:off x="461671" y="1501898"/>
          <a:ext cx="6574737" cy="4202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9089">
                  <a:extLst>
                    <a:ext uri="{9D8B030D-6E8A-4147-A177-3AD203B41FA5}">
                      <a16:colId xmlns:a16="http://schemas.microsoft.com/office/drawing/2014/main" val="234560687"/>
                    </a:ext>
                  </a:extLst>
                </a:gridCol>
                <a:gridCol w="955648">
                  <a:extLst>
                    <a:ext uri="{9D8B030D-6E8A-4147-A177-3AD203B41FA5}">
                      <a16:colId xmlns:a16="http://schemas.microsoft.com/office/drawing/2014/main" val="798964075"/>
                    </a:ext>
                  </a:extLst>
                </a:gridCol>
              </a:tblGrid>
              <a:tr h="52502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チェック項目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チェック</a:t>
                      </a:r>
                      <a:endParaRPr kumimoji="1" lang="en-US" altLang="ja-JP" dirty="0"/>
                    </a:p>
                    <a:p>
                      <a:pPr algn="ctr"/>
                      <a:r>
                        <a:rPr kumimoji="1" lang="ja-JP" altLang="en-US" dirty="0"/>
                        <a:t>（〇</a:t>
                      </a:r>
                      <a:r>
                        <a:rPr kumimoji="1" lang="en-US" altLang="ja-JP" dirty="0"/>
                        <a:t>×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06152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再度、アイデアシートを見直して、確認してください。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  <a:p>
                      <a:pPr algn="ctr"/>
                      <a:r>
                        <a:rPr kumimoji="1" lang="ja-JP" altLang="en-US" sz="1200" dirty="0">
                          <a:solidFill>
                            <a:srgbClr val="FF0000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再提出時にも再度確認し、確認日を更新してください！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チームリーダー</a:t>
                      </a:r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639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①ロボットのサイズや重量などのスペックがルールを満たしていること。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335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②図は第三者から見てわかりやすく書けていること。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437822"/>
                  </a:ext>
                </a:extLst>
              </a:tr>
              <a:tr h="367542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③アイデアやロボットの機構について、一連の流れを分かりやすく記載できていること。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263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④安全対策を行っていること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77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⑤ロボットの立体図に「バッテリー」「非常停止スイッチ」の位置を明記していること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859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⑥非常停止スイッチがルールブックの使用に則っていること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609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⑦使用する無線が電波法に則っていること。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864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⑧作成したスケジュールに無理がないこと。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130874"/>
                  </a:ext>
                </a:extLst>
              </a:tr>
            </a:tbl>
          </a:graphicData>
        </a:graphic>
      </p:graphicFrame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C68FBAF-1762-E8FA-7AC1-A84D35C46B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7080" y="5905500"/>
            <a:ext cx="3729328" cy="1219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95786C1-AB3E-C3C8-0EEC-AF339FCA71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68040" y="5966460"/>
            <a:ext cx="33299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チームリーダー</a:t>
            </a:r>
            <a:endParaRPr kumimoji="1" lang="en-US" altLang="ja-JP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氏名</a:t>
            </a:r>
            <a:endParaRPr kumimoji="1" lang="en-US" altLang="ja-JP" sz="1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en-US" altLang="ja-JP" sz="1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確認日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A2A4EC3-D6B0-E9B5-7A23-FB922E7FE0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1671" y="5905500"/>
            <a:ext cx="2506981" cy="6096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50" b="1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チェック欄を確認した後に、</a:t>
            </a:r>
            <a:endParaRPr kumimoji="1" lang="en-US" altLang="ja-JP" sz="1050" b="1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1050" b="1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日付と氏名を入力してください。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B1FAF9C-11AD-8594-FD1D-C27E26FCB2A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77000" y="10073640"/>
            <a:ext cx="940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[EOF]</a:t>
            </a:r>
            <a:endParaRPr kumimoji="1" lang="ja-JP" altLang="en-US" sz="16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6230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718</TotalTime>
  <Words>904</Words>
  <Application>Microsoft Office PowerPoint</Application>
  <PresentationFormat>ユーザー設定</PresentationFormat>
  <Paragraphs>111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7" baseType="lpstr">
      <vt:lpstr>BIZ UDPゴシック</vt:lpstr>
      <vt:lpstr>Meiryo UI</vt:lpstr>
      <vt:lpstr>Noto Sans JP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加藤 悠吾（豊田高専）</dc:creator>
  <cp:lastModifiedBy>加藤 悠吾（豊田高専）</cp:lastModifiedBy>
  <cp:revision>4</cp:revision>
  <dcterms:created xsi:type="dcterms:W3CDTF">2026-06-19T14:27:02Z</dcterms:created>
  <dcterms:modified xsi:type="dcterms:W3CDTF">2026-06-20T02:25:37Z</dcterms:modified>
</cp:coreProperties>
</file>